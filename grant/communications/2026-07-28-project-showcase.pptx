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Modeling the Messy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6BEE6"/>
                </a:solidFill>
                <a:latin typeface="Calibri"/>
              </a:rPr>
              <a:t>Capturing Student Reasoning within
High-Dimensional Industrial AI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6BEE6"/>
                </a:solidFill>
                <a:latin typeface="Calibri"/>
              </a:rPr>
              <a:t>NSF CAMEL Phase I  |  Award #2621173  |  Penn State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Calibri"/>
              </a:rPr>
              <a:t>Napolitano · Yao · Reinhart · Zuo · Hill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6570"/>
                </a:solidFill>
                <a:latin typeface="Calibri"/>
              </a:rPr>
              <a:t>July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3794760" cy="347472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" y="1362456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Name / 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25880"/>
            <a:ext cx="2514600" cy="347472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15383" y="13624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Institution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1325880"/>
            <a:ext cx="5532120" cy="347472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67144" y="1362456"/>
            <a:ext cx="5440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Expertise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673352"/>
            <a:ext cx="379476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1719072"/>
            <a:ext cx="3675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Rebecca (Becca) Napolitano (PI)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673352"/>
            <a:ext cx="251460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3" y="1719072"/>
            <a:ext cx="23957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Penn State — 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1673352"/>
            <a:ext cx="553212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67144" y="1719072"/>
            <a:ext cx="54132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Data translation; Python/notebook education; learning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331720"/>
            <a:ext cx="3794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2377439"/>
            <a:ext cx="3675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Xiangquan (James) Yao (Co-PI)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331720"/>
            <a:ext cx="2514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5383" y="2377439"/>
            <a:ext cx="23957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Penn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331720"/>
            <a:ext cx="5532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67144" y="2377439"/>
            <a:ext cx="54132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Science of learning; cognitive science; educational measurement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990088"/>
            <a:ext cx="379476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3035808"/>
            <a:ext cx="3675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Wesley F. Reinhart (Co-PI)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990088"/>
            <a:ext cx="251460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5383" y="3035808"/>
            <a:ext cx="23957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Penn State — MSE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2990088"/>
            <a:ext cx="553212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67144" y="3035808"/>
            <a:ext cx="54132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FAIR data; scientific AI; Composable Courseware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648456"/>
            <a:ext cx="3794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" y="3694176"/>
            <a:ext cx="3675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Wangda Zuo (Co-PI)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648456"/>
            <a:ext cx="2514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15383" y="3694176"/>
            <a:ext cx="23957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Penn State — AE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3648456"/>
            <a:ext cx="5532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7144" y="3694176"/>
            <a:ext cx="54132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Energy systems; cyber-physical datasets; industrial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306824"/>
            <a:ext cx="379476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" y="4352544"/>
            <a:ext cx="3675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Kathleen (Kathy) Hill (Co-PI)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4306824"/>
            <a:ext cx="251460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15383" y="4352544"/>
            <a:ext cx="23957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Penn State CSATS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4306824"/>
            <a:ext cx="553212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67144" y="4352544"/>
            <a:ext cx="54132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K-12 teacher PD; rural school partnerships; implementation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965192"/>
            <a:ext cx="3794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" y="5010912"/>
            <a:ext cx="3675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Amber Cesare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4965192"/>
            <a:ext cx="2514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15383" y="5010912"/>
            <a:ext cx="23957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CSATS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80" y="4965192"/>
            <a:ext cx="5532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67144" y="5010912"/>
            <a:ext cx="54132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Curriculum integration; complexity dial tuning; field liaison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623560"/>
            <a:ext cx="379476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" y="5669280"/>
            <a:ext cx="3675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Jeff Remington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5623560"/>
            <a:ext cx="251460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15383" y="5669280"/>
            <a:ext cx="23957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CSATS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80" y="5623560"/>
            <a:ext cx="5532120" cy="6217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67144" y="5669280"/>
            <a:ext cx="54132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School outreach; district relationships; NEIC facilitation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Network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7C"/>
                </a:solidFill>
                <a:latin typeface="Calibri"/>
              </a:rPr>
              <a:t>K-12 School Partners — 7 Rural PA Districts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6583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9222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 Keystone Central: Bucktail MS/HS  (100% econ. disadvantaged)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6583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9514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 Keystone Central: Central Mountain HS  (64% econ. disadvantaged)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6583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 Juniata Valley HS  (56% econ. disadvantaged)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46120"/>
            <a:ext cx="6583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0098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 Juniata HS  (42% econ. disadvantaged)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6583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80390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 Hollidaysburg Senior HS  (37% econ. disadvantaged)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6583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30682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 Lewisburg Area HS  (27% econ. disadvantaged)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54880"/>
            <a:ext cx="6583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80974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 Philipsburg-Osceola Senior HS  (46% econ. disadvantaged)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257800"/>
            <a:ext cx="6583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3126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 Jersey Shore Senior HS  (47% econ. disadvantaged)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234440"/>
            <a:ext cx="46634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325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7C"/>
                </a:solidFill>
                <a:latin typeface="Calibri"/>
              </a:rPr>
              <a:t>Data &amp; Infrastructure Partners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7830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7C"/>
                </a:solidFill>
                <a:latin typeface="Calibri"/>
              </a:rPr>
              <a:t>2DCC-MIP (Penn State)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084831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Calibri"/>
              </a:rPr>
              <a:t>Materials science AFM datasets — source for Composable Courseware industrial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7432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7C"/>
                </a:solidFill>
                <a:latin typeface="Calibri"/>
              </a:rPr>
              <a:t>Penn State ICDS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04495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Calibri"/>
              </a:rPr>
              <a:t>Compute + storage infrastructure for telemetry backend and dataset archiving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703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7C"/>
                </a:solidFill>
                <a:latin typeface="Calibri"/>
              </a:rPr>
              <a:t>E.B. Howard Consultants
(Christine Howard)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00507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Calibri"/>
              </a:rPr>
              <a:t>Independent external evaluation throughout the grant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K-12 Math Problem We're Addressing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9144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Real-world data is messy.  Textbook data isn't.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Students learn mathematics with sanitized, curated datasets — but data in science, engineering, and industry is high-dimensional, noisy, and complex.  This gap means students don't develop authentic mathematical modeling competency: the ability to reason through real-world complexity.
Our partner schools serve students in rural, high-poverty communities where math proficiency rates range from 12 – 47%.  These students have the most to gain from instruction that connects math to the world they will enter — and the fewest resources to build that bridge without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280160"/>
            <a:ext cx="356616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7C"/>
                </a:solidFill>
                <a:latin typeface="Calibri"/>
              </a:rPr>
              <a:t>Research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RQ 1
How do students develop mathematical modeling competencies when engaging with complex industrial datasets in Algebra and Statistics?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33756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RQ 2
What infrastructure — data translation frameworks and annotation protocols — is required to study mathematical modeling at scale?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29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6570"/>
                </a:solidFill>
                <a:latin typeface="Calibri"/>
              </a:rPr>
              <a:t>Target: ~4,500 students | 7 rural PA districts | Years 1–3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Data We're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577840" cy="1005840"/>
          </a:xfrm>
          <a:prstGeom prst="rect">
            <a:avLst/>
          </a:prstGeom>
          <a:solidFill>
            <a:srgbClr val="96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441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7C"/>
                </a:solidFill>
                <a:latin typeface="Calibri"/>
              </a:rPr>
              <a:t>Materials Science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Atomic force microscopy (AFM) data from Penn State's 2D Crystal Consortium (Reinhart)
Statistical + structural complexity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577840" cy="1005840"/>
          </a:xfrm>
          <a:prstGeom prst="rect">
            <a:avLst/>
          </a:prstGeom>
          <a:solidFill>
            <a:srgbClr val="96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441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7C"/>
                </a:solidFill>
                <a:latin typeface="Calibri"/>
              </a:rPr>
              <a:t>Energy Systems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Campus cooling system and data center time-series (Zuo)
Temporal + provenance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231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7C"/>
                </a:solidFill>
                <a:latin typeface="Calibri"/>
              </a:rPr>
              <a:t>Five Linked Data Layers per Student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2468880" cy="59436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90779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  Process-level telemetry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83464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90779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Cell executions · code diffs · errors · idle time  (tens of millions of events; JSONL)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93008"/>
            <a:ext cx="2468880" cy="594360"/>
          </a:xfrm>
          <a:prstGeom prst="rect">
            <a:avLst/>
          </a:prstGeom>
          <a:solidFill>
            <a:srgbClr val="2A5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566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  Pre/post assessments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3493008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5661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Mathematical modeling competency measures before and after each module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51376"/>
            <a:ext cx="2468880" cy="59436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22452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  Student work artifacts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4151376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42245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Completed Jupyter notebooks capturing the full modeling process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09744"/>
            <a:ext cx="2468880" cy="594360"/>
          </a:xfrm>
          <a:prstGeom prst="rect">
            <a:avLst/>
          </a:prstGeom>
          <a:solidFill>
            <a:srgbClr val="2A5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488289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  Classroom metadata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4809744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488289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Teacher fidelity of implementation; session context; site demographics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468112"/>
            <a:ext cx="2468880" cy="59436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554126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  Expert annotations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5468112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554126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Reasoning Pattern Codes · Error Taxonomy · Productive Struggle Indicators  (codebook D6)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172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0"/>
                </a:solidFill>
                <a:latin typeface="Calibri"/>
              </a:rPr>
              <a:t>FAIR-compliant · CC-BY · Published on ICPSR + OSF with DOI · Tutorial notebooks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Current State of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BEE6"/>
                </a:solidFill>
                <a:latin typeface="Calibri"/>
              </a:rPr>
              <a:t>Award received June 22, 2026 — we are in the pre-work setup period (July–December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3291840" cy="347472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3624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325880"/>
            <a:ext cx="1965960" cy="347472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2463" y="136245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325880"/>
            <a:ext cx="6080760" cy="347472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15583" y="136245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673352"/>
            <a:ext cx="3291840" cy="64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" y="1746504"/>
            <a:ext cx="3172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Composable Courseware L01–L02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673352"/>
            <a:ext cx="1965960" cy="64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3" y="1746504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7C"/>
                </a:solidFill>
                <a:latin typeface="Calibri"/>
              </a:rPr>
              <a:t>Built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673352"/>
            <a:ext cx="6080760" cy="64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3" y="174650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Calibri"/>
              </a:rPr>
              <a:t>From prior NSF IIS-2123343 — tested in college classrooms, now adapting for K-12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359152"/>
            <a:ext cx="329184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2432304"/>
            <a:ext cx="3172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School district partnerships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2359152"/>
            <a:ext cx="196596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3" y="2432304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29700"/>
                </a:solidFill>
                <a:latin typeface="Calibri"/>
              </a:rPr>
              <a:t>Outreach underway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359152"/>
            <a:ext cx="608076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3" y="243230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Calibri"/>
              </a:rPr>
              <a:t>7 districts identified; Kathy Hill's team has existing relationships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044952"/>
            <a:ext cx="3291840" cy="64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" y="3118104"/>
            <a:ext cx="3172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Python telemetry 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044952"/>
            <a:ext cx="1965960" cy="64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12463" y="3118104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6570"/>
                </a:solidFill>
                <a:latin typeface="Calibri"/>
              </a:rPr>
              <a:t>Designed — impl. Jan 2027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044952"/>
            <a:ext cx="6080760" cy="64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5583" y="311810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Calibri"/>
              </a:rPr>
              <a:t>IPython kernel hooks + FastAPI backend + teacher dashboard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730752"/>
            <a:ext cx="329184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" y="3803904"/>
            <a:ext cx="3172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Annotation codebook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3730752"/>
            <a:ext cx="196596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12463" y="3803904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6570"/>
                </a:solidFill>
                <a:latin typeface="Calibri"/>
              </a:rPr>
              <a:t>Drafted — pilot validation needed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730752"/>
            <a:ext cx="608076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15583" y="380390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Calibri"/>
              </a:rPr>
              <a:t>Reasoning Pattern Codes, Error Taxonomy, Productive Struggle Indicators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416552"/>
            <a:ext cx="3291840" cy="64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" y="4489704"/>
            <a:ext cx="3172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Pilot dataset (~100 students, 2 sites)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416552"/>
            <a:ext cx="1965960" cy="64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12463" y="4489704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6570"/>
                </a:solidFill>
                <a:latin typeface="Calibri"/>
              </a:rPr>
              <a:t>Target: Fall 2027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4416552"/>
            <a:ext cx="6080760" cy="6492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15583" y="448970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Calibri"/>
              </a:rPr>
              <a:t>1 Title I + 1 rural school · inter-rater reliability κ ≥ 0.70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102352"/>
            <a:ext cx="329184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3464" y="5175504"/>
            <a:ext cx="3172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Full dataset (~4,500 students)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5102352"/>
            <a:ext cx="196596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12463" y="5175504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6570"/>
                </a:solidFill>
                <a:latin typeface="Calibri"/>
              </a:rPr>
              <a:t>Target: End of 2029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5102352"/>
            <a:ext cx="608076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15583" y="517550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Calibri"/>
              </a:rPr>
              <a:t>5 layers · tens of millions events · published ICPSR + OSF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We Draw on Researchers, Practitioners, and Data Scientists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3749039" cy="50292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441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Researchers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10512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88366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Yao — cognitive science, science of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3774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570"/>
                </a:solidFill>
                <a:latin typeface="Calibri"/>
              </a:rPr>
              <a:t>→ annotation protocols, RQ1 empirical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87121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36499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Reinhart — materials science, FAIR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8587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570"/>
                </a:solidFill>
                <a:latin typeface="Calibri"/>
              </a:rPr>
              <a:t>→ dataset originator + Composable Courseware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435254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48463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Zuo — energy systems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570"/>
                </a:solidFill>
                <a:latin typeface="Calibri"/>
              </a:rPr>
              <a:t>→ second industrial dataset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280160"/>
            <a:ext cx="3749039" cy="502920"/>
          </a:xfrm>
          <a:prstGeom prst="rect">
            <a:avLst/>
          </a:prstGeom>
          <a:solidFill>
            <a:srgbClr val="2A5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13441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Practitioners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810512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88366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Hill + Cesare + Remington (CSATS)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3774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570"/>
                </a:solidFill>
                <a:latin typeface="Calibri"/>
              </a:rPr>
              <a:t>→ teacher PD design, school partnerships,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287121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   fidelity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36499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8587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4–12 math teachers / year as co-researchers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35254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570"/>
                </a:solidFill>
                <a:latin typeface="Calibri"/>
              </a:rPr>
              <a:t>→ annotating, documenting, shaping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8463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NEIC — monthly virtual sessions, PDSA cycles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583387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570"/>
                </a:solidFill>
                <a:latin typeface="Calibri"/>
              </a:rPr>
              <a:t>→ practitioner feedback loop closes every 30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1280160"/>
            <a:ext cx="3749039" cy="502920"/>
          </a:xfrm>
          <a:prstGeom prst="rect">
            <a:avLst/>
          </a:prstGeom>
          <a:solidFill>
            <a:srgbClr val="0D2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13441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Data Scientists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1810512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7" y="188366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Napolitano — data translation framework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7" y="23774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570"/>
                </a:solidFill>
                <a:latin typeface="Calibri"/>
              </a:rPr>
              <a:t>→ complexity dials, scaffolding templates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7" y="287121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7" y="336499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2 PhD students (to be hired)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7" y="38587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570"/>
                </a:solidFill>
                <a:latin typeface="Calibri"/>
              </a:rPr>
              <a:t>→ telemetry system + ML classifier 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7" y="435254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7" y="48463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D8 classifier: proof-of-concept AI on our dataset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7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570"/>
                </a:solidFill>
                <a:latin typeface="Calibri"/>
              </a:rPr>
              <a:t>→ predicts productive vs. unproductive struggle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Expect to Work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0292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459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110642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3990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7C"/>
                </a:solidFill>
                <a:latin typeface="Calibri"/>
              </a:rPr>
              <a:t>Not starting from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Composable Courseware L01–L02 are built and field-tested from a completed NSF grant (IIS-2123343). Phase I adapts proven architecture for K-12 — not greenfield development.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24328"/>
            <a:ext cx="50292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44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24328"/>
            <a:ext cx="110642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974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7C"/>
                </a:solidFill>
                <a:latin typeface="Calibri"/>
              </a:rPr>
              <a:t>Strong school trust already in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815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Kathy Hill's CSATS team has existing relationships with all 7 rural districts. Partnership outreach is warm, not cold.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50292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428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22776"/>
            <a:ext cx="110642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959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7C"/>
                </a:solidFill>
                <a:latin typeface="Calibri"/>
              </a:rPr>
              <a:t>Interdisciplinary team with shared track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7997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Napolitano, Reinhart, and Hill collaborated on a completed NSF grant together. We know how to work across AE, MSE, and education.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221224"/>
            <a:ext cx="50292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5412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221224"/>
            <a:ext cx="110642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9437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7C"/>
                </a:solidFill>
                <a:latin typeface="Calibri"/>
              </a:rPr>
              <a:t>Mature telemetry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7842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IPython kernel hooks for process-level data capture are well-understood from prior work. The engineering design is validated in principle; Year 1 is implementation, not invention.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Biggest Challenges — and How a Collaboratory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502920" cy="12618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4591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98448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Data translation is genuinely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5564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Making industrial data pedagogically accessible for Algebra/Statistics requires expertise that rarely sits in one person. Our 'complexity dials' are the mechanism — calibrating them across 7 districts, multiple teachers, and diverse students is an open research 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88336"/>
            <a:ext cx="502920" cy="12618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03580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88336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6148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Annotation at scale requires reproducible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45536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Labeling student reasoning (What counts as 'productive struggle'?) must be precise enough for non-expert coders to reach κ ≥ 0.70 across thousands of sessions. Getting there — and sustaining it — is a major infrastructure challenge.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78224"/>
            <a:ext cx="502920" cy="12618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42569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078224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5137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The logistics chain is tight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35424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Every milestone depends on IRB approval → partnership agreements → hiring → training. This chain takes months. Anything that slows the front end ripples through Year 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1051560"/>
          </a:xfrm>
          <a:prstGeom prst="rect">
            <a:avLst/>
          </a:prstGeom>
          <a:solidFill>
            <a:srgbClr val="96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532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7C"/>
                </a:solidFill>
                <a:latin typeface="Calibri"/>
              </a:rPr>
              <a:t>Where a collaboratory helps most: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852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Shared annotation standards → pool coding labor across teams  ·  Cross-team data translation templates → faster complexity dial development  ·  Shared IRB/data governance models → reduce every team's setup burden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✦  Magic Wand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6BEE6"/>
                </a:solidFill>
                <a:latin typeface="Calibri"/>
              </a:rPr>
              <a:t>If you could solve your biggest challenge instantly — what would that look like?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3200400"/>
          </a:xfrm>
          <a:prstGeom prst="rect">
            <a:avLst/>
          </a:prstGeom>
          <a:solidFill>
            <a:srgbClr val="0D2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789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"If we could wave a magic wand: every CAMEL team would adopt the same process-level telemetry schema from day one — a shared event log standard — so that student reasoning data across materials science, climate, and energy contexts could be directly compared.
Right now we're each building data infrastructure in parallel. A collaboratory that converges on a common telemetry and annotation layer in Phase I would let Phase II ask questions none of us can ask alone."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solidFill>
            <a:srgbClr val="E2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12064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⚑  PLACEHOLDER — Replace with Becca's voice before presenting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6BEE6"/>
                </a:solidFill>
                <a:latin typeface="Calibri"/>
              </a:rPr>
              <a:t>NSF CAMEL Phase I  ·  Award #2621173  ·  Penn State University  ·  nap@psu.edu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