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88952" cy="2743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Modeling the Messy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96BEE6"/>
                </a:solidFill>
                <a:latin typeface="Calibri"/>
              </a:rPr>
              <a:t>Capturing Student Reasoning within
High-Dimensional Industrial AI Datasets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6BEE6"/>
                </a:solidFill>
                <a:latin typeface="Calibri"/>
              </a:rPr>
              <a:t>NSF CAMEL Phase I  |  Award #2621173  |  Penn State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34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A1A2E"/>
                </a:solidFill>
                <a:latin typeface="Calibri"/>
              </a:rPr>
              <a:t>Napolitano · Yao · Reinhart · Zuo · Hill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6570"/>
                </a:solidFill>
                <a:latin typeface="Calibri"/>
              </a:rPr>
              <a:t>July 28,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Team Members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6570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325880"/>
            <a:ext cx="3794760" cy="347472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" y="1362456"/>
            <a:ext cx="3703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Name / Role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325880"/>
            <a:ext cx="2514600" cy="347472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3" y="1362456"/>
            <a:ext cx="2423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Institution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12280" y="1325880"/>
            <a:ext cx="5532120" cy="347472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67144" y="1362456"/>
            <a:ext cx="54406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Expertise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673352"/>
            <a:ext cx="3794760" cy="62179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" y="1719072"/>
            <a:ext cx="367588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Rebecca (Becca) Napolitano (PI)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1673352"/>
            <a:ext cx="2514600" cy="62179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15383" y="1719072"/>
            <a:ext cx="2395727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Penn State — AE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1673352"/>
            <a:ext cx="5532120" cy="62179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7144" y="1719072"/>
            <a:ext cx="541324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Data translation; Python/notebook education; learning analytics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2331720"/>
            <a:ext cx="37947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464" y="2377439"/>
            <a:ext cx="367588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Xiangquan (James) Yao (Co-PI)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60520" y="2331720"/>
            <a:ext cx="2514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15383" y="2377439"/>
            <a:ext cx="2395727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Penn State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12280" y="2331720"/>
            <a:ext cx="5532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67144" y="2377439"/>
            <a:ext cx="541324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Science of learning; cognitive science; educational measurement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2990088"/>
            <a:ext cx="3794760" cy="62179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" y="3035808"/>
            <a:ext cx="367588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Wesley F. Reinhart (Co-PI)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60520" y="2990088"/>
            <a:ext cx="2514600" cy="62179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15383" y="3035808"/>
            <a:ext cx="2395727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Penn State — MSE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2990088"/>
            <a:ext cx="5532120" cy="62179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7144" y="3035808"/>
            <a:ext cx="541324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FAIR data; scientific AI; Composable Courseware architecture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3648456"/>
            <a:ext cx="37947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3464" y="3694176"/>
            <a:ext cx="367588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Wangda Zuo (Co-PI)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0520" y="3648456"/>
            <a:ext cx="2514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15383" y="3694176"/>
            <a:ext cx="2395727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Penn State — AE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12280" y="3648456"/>
            <a:ext cx="5532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67144" y="3694176"/>
            <a:ext cx="541324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Energy systems; cyber-physical datasets; industrial AI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" y="4306824"/>
            <a:ext cx="3794760" cy="62179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3464" y="4352544"/>
            <a:ext cx="367588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Kathleen (Kathy) Hill (Co-PI)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60520" y="4306824"/>
            <a:ext cx="2514600" cy="62179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15383" y="4352544"/>
            <a:ext cx="2395727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Penn State CSATS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12280" y="4306824"/>
            <a:ext cx="5532120" cy="62179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67144" y="4352544"/>
            <a:ext cx="541324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K-12 teacher PD; rural school partnerships; implementation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" y="4965192"/>
            <a:ext cx="37947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3464" y="5010912"/>
            <a:ext cx="367588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Amber Cesare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60520" y="4965192"/>
            <a:ext cx="2514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15383" y="5010912"/>
            <a:ext cx="2395727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CSATS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12280" y="4965192"/>
            <a:ext cx="5532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67144" y="5010912"/>
            <a:ext cx="541324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Curriculum integration; complexity dial tuning; field liaison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" y="5623560"/>
            <a:ext cx="3794760" cy="62179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3464" y="5669280"/>
            <a:ext cx="367588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Jeff Remington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60520" y="5623560"/>
            <a:ext cx="2514600" cy="62179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15383" y="5669280"/>
            <a:ext cx="2395727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CSATS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12280" y="5623560"/>
            <a:ext cx="5532120" cy="62179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67144" y="5669280"/>
            <a:ext cx="541324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School outreach; district relationships; NEIC facilitation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Network Partners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6570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3258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407C"/>
                </a:solidFill>
                <a:latin typeface="Calibri"/>
              </a:rPr>
              <a:t>K-12 School Partners — 7 Rural PA Districts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737360"/>
            <a:ext cx="65836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792224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 Keystone Central: Bucktail MS/HS  (100% econ. disadvantaged)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240280"/>
            <a:ext cx="65836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295144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 Keystone Central: Central Mountain HS  (64% econ. disadvantaged)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743200"/>
            <a:ext cx="65836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 Juniata Valley HS  (56% econ. disadvantaged)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246120"/>
            <a:ext cx="65836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300984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 Juniata HS  (42% econ. disadvantaged)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749039"/>
            <a:ext cx="65836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3803903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 Hollidaysburg Senior HS  (37% econ. disadvantaged)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251960"/>
            <a:ext cx="65836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306824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 Lewisburg Area HS  (27% econ. disadvantaged)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754880"/>
            <a:ext cx="65836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809744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 Philipsburg-Osceola Senior HS  (46% econ. disadvantaged)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257800"/>
            <a:ext cx="65836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5312664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 Jersey Shore Senior HS  (47% econ. disadvantaged)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1234440"/>
            <a:ext cx="4663440" cy="5303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13258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407C"/>
                </a:solidFill>
                <a:latin typeface="Calibri"/>
              </a:rPr>
              <a:t>Data &amp; Infrastructure Partners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178308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407C"/>
                </a:solidFill>
                <a:latin typeface="Calibri"/>
              </a:rPr>
              <a:t>2DCC-MIP (Penn State)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2084831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6570"/>
                </a:solidFill>
                <a:latin typeface="Calibri"/>
              </a:rPr>
              <a:t>Materials science AFM datasets — source for Composable Courseware industrial 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27432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407C"/>
                </a:solidFill>
                <a:latin typeface="Calibri"/>
              </a:rPr>
              <a:t>Penn State ICDS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044952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6570"/>
                </a:solidFill>
                <a:latin typeface="Calibri"/>
              </a:rPr>
              <a:t>Compute + storage infrastructure for telemetry backend and dataset archiving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K-12 Math Problem We're Addressing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6570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11612880" cy="914400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Real-world data is messy.  Textbook data isn't.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31720"/>
            <a:ext cx="7772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Students learn mathematics with sanitized, curated datasets — but data in science, engineering, and industry is high-dimensional, noisy, and complex.  This gap means students don't develop authentic mathematical modeling competency: the ability to reason through real-world complexity.
Our partner schools serve students in rural, high-poverty communities where math proficiency rates range from 12 – 47%.  These students have the most to gain from instruction that connects math to the world they will enter — and the fewest resources to build that bridge without support.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1280160"/>
            <a:ext cx="3566160" cy="3931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3716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407C"/>
                </a:solidFill>
                <a:latin typeface="Calibri"/>
              </a:rPr>
              <a:t>Research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783080"/>
            <a:ext cx="3337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RQ 1
How do students develop mathematical modeling competencies when engaging with complex industrial datasets in Algebra and Statistics?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337560"/>
            <a:ext cx="3337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RQ 2
What infrastructure — data translation frameworks and annotation protocols — is required to study mathematical modeling at scale?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0292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56570"/>
                </a:solidFill>
                <a:latin typeface="Calibri"/>
              </a:rPr>
              <a:t>Target: ~4,500 students | 7 rural PA districts | Years 1–3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Data We're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6570"/>
                </a:solidFill>
                <a:latin typeface="Calibr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5577840" cy="1005840"/>
          </a:xfrm>
          <a:prstGeom prst="rect">
            <a:avLst/>
          </a:prstGeom>
          <a:solidFill>
            <a:srgbClr val="96B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4416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407C"/>
                </a:solidFill>
                <a:latin typeface="Calibri"/>
              </a:rPr>
              <a:t>Materials Science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5394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Atomic force microscopy (AFM) data from Penn State's 2D Crystal Consortium (Reinhart)
Statistical + structural complexity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280160"/>
            <a:ext cx="5577840" cy="1005840"/>
          </a:xfrm>
          <a:prstGeom prst="rect">
            <a:avLst/>
          </a:prstGeom>
          <a:solidFill>
            <a:srgbClr val="96B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34416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407C"/>
                </a:solidFill>
                <a:latin typeface="Calibri"/>
              </a:rPr>
              <a:t>Energy Systems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691640"/>
            <a:ext cx="5394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Campus cooling system and data center time-series (Zuo)
Temporal + provenance complexity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42316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407C"/>
                </a:solidFill>
                <a:latin typeface="Calibri"/>
              </a:rPr>
              <a:t>Five Linked Data Layers per Student Session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834640"/>
            <a:ext cx="2468880" cy="594360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907792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1  Process-level telemetry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88920" y="2834640"/>
            <a:ext cx="91440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2907792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Cell executions · code diffs · errors · idle time  (tens of millions of events; JSONL)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493008"/>
            <a:ext cx="2468880" cy="594360"/>
          </a:xfrm>
          <a:prstGeom prst="rect">
            <a:avLst/>
          </a:prstGeom>
          <a:solidFill>
            <a:srgbClr val="2A5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35661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2  Pre/post assessments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88920" y="3493008"/>
            <a:ext cx="91440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356616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Mathematical modeling competency measures before and after each module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51376"/>
            <a:ext cx="2468880" cy="594360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4224528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3  Student work artifacts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4151376"/>
            <a:ext cx="91440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80360" y="4224528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Completed Jupyter notebooks capturing the full modeling process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809744"/>
            <a:ext cx="2468880" cy="594360"/>
          </a:xfrm>
          <a:prstGeom prst="rect">
            <a:avLst/>
          </a:prstGeom>
          <a:solidFill>
            <a:srgbClr val="2A5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4882896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4  Classroom metadata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88920" y="4809744"/>
            <a:ext cx="91440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80360" y="4882896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Teacher fidelity of implementation; session context; site demographics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468112"/>
            <a:ext cx="2468880" cy="594360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5541264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5  Expert annotations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88920" y="5468112"/>
            <a:ext cx="91440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80360" y="5541264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Reasoning Pattern Codes · Error Taxonomy · Productive Struggle Indicators  (codebook D6)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1722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6570"/>
                </a:solidFill>
                <a:latin typeface="Calibri"/>
              </a:rPr>
              <a:t>FAIR-compliant · CC-BY · Published on ICPSR + OSF with DOI · Tutorial notebooks included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Current State of 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6BEE6"/>
                </a:solidFill>
                <a:latin typeface="Calibri"/>
              </a:rPr>
              <a:t>Award received June 22, 2026 — we are in the pre-work setup period (July–December 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6570"/>
                </a:solidFill>
                <a:latin typeface="Calibri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325880"/>
            <a:ext cx="3291840" cy="347472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464" y="1362456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Component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325880"/>
            <a:ext cx="1965960" cy="347472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2463" y="1362456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1325880"/>
            <a:ext cx="6080760" cy="347472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15583" y="1362456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Notes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673352"/>
            <a:ext cx="3291840" cy="649224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3464" y="1746504"/>
            <a:ext cx="31729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Composable Courseware L01–L02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1673352"/>
            <a:ext cx="1965960" cy="649224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2463" y="1746504"/>
            <a:ext cx="18470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407C"/>
                </a:solidFill>
                <a:latin typeface="Calibri"/>
              </a:rPr>
              <a:t>Built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720" y="1673352"/>
            <a:ext cx="6080760" cy="649224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15583" y="174650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6570"/>
                </a:solidFill>
                <a:latin typeface="Calibri"/>
              </a:rPr>
              <a:t>From prior NSF IIS-2123343 — tested in college classrooms, now adapting for K-12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" y="2359152"/>
            <a:ext cx="3291840" cy="6492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3464" y="2432304"/>
            <a:ext cx="31729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School district partnerships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2359152"/>
            <a:ext cx="1965960" cy="6492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2463" y="2432304"/>
            <a:ext cx="18470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29700"/>
                </a:solidFill>
                <a:latin typeface="Calibri"/>
              </a:rPr>
              <a:t>Outreach underway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720" y="2359152"/>
            <a:ext cx="6080760" cy="6492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5583" y="243230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6570"/>
                </a:solidFill>
                <a:latin typeface="Calibri"/>
              </a:rPr>
              <a:t>7 districts identified; Kathy Hill's team has existing relationships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3044952"/>
            <a:ext cx="3291840" cy="649224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3464" y="3118104"/>
            <a:ext cx="31729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Python telemetry framework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0" y="3044952"/>
            <a:ext cx="1965960" cy="649224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12463" y="3118104"/>
            <a:ext cx="18470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56570"/>
                </a:solidFill>
                <a:latin typeface="Calibri"/>
              </a:rPr>
              <a:t>Designed — impl. Jan 2027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60720" y="3044952"/>
            <a:ext cx="6080760" cy="649224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15583" y="311810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6570"/>
                </a:solidFill>
                <a:latin typeface="Calibri"/>
              </a:rPr>
              <a:t>IPython kernel hooks + FastAPI backend + teacher dashboard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3730752"/>
            <a:ext cx="3291840" cy="6492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3464" y="3803904"/>
            <a:ext cx="31729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Annotation codebook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0" y="3730752"/>
            <a:ext cx="1965960" cy="6492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12463" y="3803904"/>
            <a:ext cx="18470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56570"/>
                </a:solidFill>
                <a:latin typeface="Calibri"/>
              </a:rPr>
              <a:t>Drafted — pilot validation needed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60720" y="3730752"/>
            <a:ext cx="6080760" cy="6492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15583" y="380390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6570"/>
                </a:solidFill>
                <a:latin typeface="Calibri"/>
              </a:rPr>
              <a:t>Reasoning Pattern Codes, Error Taxonomy, Productive Struggle Indicators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" y="4416552"/>
            <a:ext cx="3291840" cy="649224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3464" y="4489704"/>
            <a:ext cx="31729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Pilot dataset (~100 students, 2 sites)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4416552"/>
            <a:ext cx="1965960" cy="649224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12463" y="4489704"/>
            <a:ext cx="18470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56570"/>
                </a:solidFill>
                <a:latin typeface="Calibri"/>
              </a:rPr>
              <a:t>Target: Fall 2027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60720" y="4416552"/>
            <a:ext cx="6080760" cy="649224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15583" y="448970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6570"/>
                </a:solidFill>
                <a:latin typeface="Calibri"/>
              </a:rPr>
              <a:t>1 Title I + 1 rural school · inter-rater reliability κ ≥ 0.70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" y="5102352"/>
            <a:ext cx="3291840" cy="6492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3464" y="5175504"/>
            <a:ext cx="31729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Full dataset (~4,500 students)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0" y="5102352"/>
            <a:ext cx="1965960" cy="6492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12463" y="5175504"/>
            <a:ext cx="18470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56570"/>
                </a:solidFill>
                <a:latin typeface="Calibri"/>
              </a:rPr>
              <a:t>Target: End of 2029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60720" y="5102352"/>
            <a:ext cx="6080760" cy="6492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15583" y="517550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6570"/>
                </a:solidFill>
                <a:latin typeface="Calibri"/>
              </a:rPr>
              <a:t>5 layers · tens of millions events · published ICPSR + OSF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How We Draw on Researchers, Practitioners, and Data Scientists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6570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280160"/>
            <a:ext cx="3749039" cy="502920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3441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Researchers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810512"/>
            <a:ext cx="3749039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" y="1883664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Yao — cognitive science, science of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" y="237744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570"/>
                </a:solidFill>
                <a:latin typeface="Calibri"/>
              </a:rPr>
              <a:t>→ annotation protocols, RQ1 empirical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2871216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3364992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Reinhart — materials science, FAIR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" y="385876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570"/>
                </a:solidFill>
                <a:latin typeface="Calibri"/>
              </a:rPr>
              <a:t>→ dataset originator + Composable Courseware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" y="4352544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484632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Zuo — energy systems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" y="5340096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570"/>
                </a:solidFill>
                <a:latin typeface="Calibri"/>
              </a:rPr>
              <a:t>→ second industrial dataset context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1280160"/>
            <a:ext cx="3749039" cy="502920"/>
          </a:xfrm>
          <a:prstGeom prst="rect">
            <a:avLst/>
          </a:prstGeom>
          <a:solidFill>
            <a:srgbClr val="2A5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13441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Practitioners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1810512"/>
            <a:ext cx="3749039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15968" y="1883664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Hill + Cesare + Remington (CSATS)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237744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570"/>
                </a:solidFill>
                <a:latin typeface="Calibri"/>
              </a:rPr>
              <a:t>→ teacher PD design, school partnerships,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2871216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   fidelity monitoring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5968" y="3364992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5968" y="385876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4–12 math teachers / year as co-researchers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5968" y="4352544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570"/>
                </a:solidFill>
                <a:latin typeface="Calibri"/>
              </a:rPr>
              <a:t>→ annotating, documenting, shaping tools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484632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5340096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NEIC — monthly virtual sessions, PDSA cycles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5833872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570"/>
                </a:solidFill>
                <a:latin typeface="Calibri"/>
              </a:rPr>
              <a:t>→ practitioner feedback loop closes every 30 days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83879" y="1280160"/>
            <a:ext cx="3749039" cy="502920"/>
          </a:xfrm>
          <a:prstGeom prst="rect">
            <a:avLst/>
          </a:prstGeom>
          <a:solidFill>
            <a:srgbClr val="0D2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19" y="13441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Data Scientists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83879" y="1810512"/>
            <a:ext cx="3749039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93607" y="1883664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Napolitano — data translation framework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7" y="237744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570"/>
                </a:solidFill>
                <a:latin typeface="Calibri"/>
              </a:rPr>
              <a:t>→ complexity dials, scaffolding templates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3607" y="2871216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3607" y="3364992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2 PhD students (to be hired)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3607" y="385876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570"/>
                </a:solidFill>
                <a:latin typeface="Calibri"/>
              </a:rPr>
              <a:t>→ telemetry system + ML classifier development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7" y="4352544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93607" y="484632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D8 classifier: proof-of-concept AI on our dataset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93607" y="5340096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570"/>
                </a:solidFill>
                <a:latin typeface="Calibri"/>
              </a:rPr>
              <a:t>→ predicts productive vs. unproductive struggle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We Expect to Work 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6570"/>
                </a:solidFill>
                <a:latin typeface="Calibri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502920" cy="1143000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45919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325880"/>
            <a:ext cx="1106424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39903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407C"/>
                </a:solidFill>
                <a:latin typeface="Calibri"/>
              </a:rPr>
              <a:t>Not starting from zero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78308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Composable Courseware L01–L02 are built and field-tested from a completed NSF grant (IIS-2123343). Phase I adapts proven architecture for K-12 — not greenfield development.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624328"/>
            <a:ext cx="502920" cy="1143000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294436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24328"/>
            <a:ext cx="1106424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69748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407C"/>
                </a:solidFill>
                <a:latin typeface="Calibri"/>
              </a:rPr>
              <a:t>Strong school trust already in place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081528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Kathy Hill's CSATS team has existing relationships with all 7 rural districts. Partnership outreach is warm, not cold.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922776"/>
            <a:ext cx="502920" cy="1143000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24281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922776"/>
            <a:ext cx="1106424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95928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407C"/>
                </a:solidFill>
                <a:latin typeface="Calibri"/>
              </a:rPr>
              <a:t>Interdisciplinary team with shared track 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379976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Napolitano, Reinhart, and Hill collaborated on a completed NSF grant together. We know how to work across AE, MSE, and education.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221224"/>
            <a:ext cx="502920" cy="1143000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554126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5221224"/>
            <a:ext cx="1106424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294376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407C"/>
                </a:solidFill>
                <a:latin typeface="Calibri"/>
              </a:rPr>
              <a:t>Mature telemetry 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678424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IPython kernel hooks for process-level data capture are well-understood from prior work. The engineering design is validated in principle; Year 1 is implementation, not invention.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Biggest Challenges — and How a Collaboratory Helps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6570"/>
                </a:solidFill>
                <a:latin typeface="Calibri"/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98448"/>
            <a:ext cx="502920" cy="12618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45919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298448"/>
            <a:ext cx="11064240" cy="1261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3716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  <a:latin typeface="Calibri"/>
              </a:rPr>
              <a:t>Data translation is genuinely hard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75564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Making industrial data pedagogically accessible for Algebra/Statistics requires expertise that rarely sits in one person. Our 'complexity dials' are the mechanism — calibrating them across 7 districts, multiple teachers, and diverse students is an open research problem.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688336"/>
            <a:ext cx="502920" cy="12618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3035808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88336"/>
            <a:ext cx="11064240" cy="1261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761488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  <a:latin typeface="Calibri"/>
              </a:rPr>
              <a:t>Annotation at scale requires reproducible standards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14553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Labeling student reasoning (What counts as 'productive struggle'?) must be precise enough for non-expert coders to reach κ ≥ 0.70 across thousands of sessions. Getting there — and sustaining it — is a major infrastructure challenge.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078224"/>
            <a:ext cx="502920" cy="12618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425696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078224"/>
            <a:ext cx="11064240" cy="1261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51376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  <a:latin typeface="Calibri"/>
              </a:rPr>
              <a:t>The logistics chain is tight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53542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Every milestone depends on IRB approval → partnership agreements → hiring → training. This chain takes months. Anything that slows the front end ripples through Year 1.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486400"/>
            <a:ext cx="11612880" cy="1051560"/>
          </a:xfrm>
          <a:prstGeom prst="rect">
            <a:avLst/>
          </a:prstGeom>
          <a:solidFill>
            <a:srgbClr val="96B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55321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407C"/>
                </a:solidFill>
                <a:latin typeface="Calibri"/>
              </a:rPr>
              <a:t>Where a collaboratory helps most: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8521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Shared annotation standards → pool coding labor across teams  ·  Cross-team data translation templates → faster complexity dial development  ·  Shared IRB/data governance models → reduce every team's setup burden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40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6570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✦  Magic Wand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6BEE6"/>
                </a:solidFill>
                <a:latin typeface="Calibri"/>
              </a:rPr>
              <a:t>If you could solve your biggest challenge instantly — what would that look like?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11247120" cy="3200400"/>
          </a:xfrm>
          <a:prstGeom prst="rect">
            <a:avLst/>
          </a:prstGeom>
          <a:solidFill>
            <a:srgbClr val="0D2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"If we could wave a magic wand: every CAMEL team would adopt the same process-level telemetry schema from day one — a shared event log standard — so that student reasoning data across materials science, climate, and energy contexts could be directly compared.
Right now we're each building data infrastructure in parallel. A collaboratory that converges on a common telemetry and annotation layer in Phase I would let Phase II ask questions none of us can ask alone."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074920"/>
            <a:ext cx="11247120" cy="594360"/>
          </a:xfrm>
          <a:prstGeom prst="rect">
            <a:avLst/>
          </a:prstGeom>
          <a:solidFill>
            <a:srgbClr val="E2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12064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⚑  PLACEHOLDER — Replace with Becca's voice before presenting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6BEE6"/>
                </a:solidFill>
                <a:latin typeface="Calibri"/>
              </a:rPr>
              <a:t>NSF CAMEL Phase I  ·  Award #2621173  ·  Penn State University  ·  nap@psu.edu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